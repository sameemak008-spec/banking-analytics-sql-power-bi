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7" r:id="rId3"/>
    <p:sldId id="261" r:id="rId4"/>
    <p:sldId id="27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4" r:id="rId14"/>
    <p:sldId id="275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2.png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4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3.png"/><Relationship Id="rId2" Type="http://schemas.openxmlformats.org/officeDocument/2006/relationships/tags" Target="../tags/tag15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7.xml"/><Relationship Id="rId7" Type="http://schemas.openxmlformats.org/officeDocument/2006/relationships/image" Target="../media/image8.png"/><Relationship Id="rId6" Type="http://schemas.openxmlformats.org/officeDocument/2006/relationships/tags" Target="../tags/tag26.xml"/><Relationship Id="rId5" Type="http://schemas.microsoft.com/office/2007/relationships/hdphoto" Target="../media/image7.wdp"/><Relationship Id="rId4" Type="http://schemas.openxmlformats.org/officeDocument/2006/relationships/image" Target="../media/image6.png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2.png"/><Relationship Id="rId5" Type="http://schemas.openxmlformats.org/officeDocument/2006/relationships/tags" Target="../tags/tag64.xml"/><Relationship Id="rId4" Type="http://schemas.openxmlformats.org/officeDocument/2006/relationships/image" Target="../media/image1.png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3" y="0"/>
            <a:ext cx="12169827" cy="6858000"/>
          </a:xfrm>
          <a:prstGeom prst="rect">
            <a:avLst/>
          </a:prstGeom>
        </p:spPr>
      </p:pic>
      <p:pic>
        <p:nvPicPr>
          <p:cNvPr id="10" name="图片 9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9" name="署名"/>
          <p:cNvSpPr>
            <a:spLocks noGrp="1"/>
          </p:cNvSpPr>
          <p:nvPr>
            <p:ph type="body" idx="3" hasCustomPrompt="1"/>
            <p:custDataLst>
              <p:tags r:id="rId7"/>
            </p:custDataLst>
          </p:nvPr>
        </p:nvSpPr>
        <p:spPr>
          <a:xfrm>
            <a:off x="8994711" y="4309110"/>
            <a:ext cx="2158430" cy="51170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 dirty="0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8" name="副标题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5984875" y="3815715"/>
            <a:ext cx="5229860" cy="429260"/>
          </a:xfrm>
          <a:prstGeom prst="rect">
            <a:avLst/>
          </a:prstGeom>
          <a:noFill/>
        </p:spPr>
        <p:txBody>
          <a:bodyPr wrap="square" lIns="0" tIns="0" rIns="71755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sz="1400" b="0" i="0" u="none" strike="noStrike" kern="1200" cap="none" spc="0" normalizeH="0" baseline="0" noProof="1" dirty="0" err="1">
                <a:solidFill>
                  <a:schemeClr val="accent1">
                    <a:lumMod val="7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4284980" y="984885"/>
            <a:ext cx="6929755" cy="283083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 baseline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5"/>
          <a:stretch>
            <a:fillRect/>
          </a:stretch>
        </p:blipFill>
        <p:spPr>
          <a:xfrm>
            <a:off x="1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0 w 1219199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图片 35" descr="36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876915" y="1054100"/>
            <a:ext cx="642620" cy="335915"/>
          </a:xfrm>
          <a:prstGeom prst="rect">
            <a:avLst/>
          </a:prstGeom>
        </p:spPr>
      </p:pic>
      <p:pic>
        <p:nvPicPr>
          <p:cNvPr id="37" name="图片 36" descr="3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90230" y="3277235"/>
            <a:ext cx="448945" cy="234950"/>
          </a:xfrm>
          <a:prstGeom prst="rect">
            <a:avLst/>
          </a:prstGeom>
        </p:spPr>
      </p:pic>
      <p:pic>
        <p:nvPicPr>
          <p:cNvPr id="9" name="图片 8" descr="gg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624185" y="4663440"/>
            <a:ext cx="819150" cy="1224915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88669" y="835660"/>
            <a:ext cx="7602039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effectLst/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lang="en-US"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5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7000"/>
                    </a14:imgEffect>
                    <a14:imgEffect>
                      <a14:saturation sat="16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" y="0"/>
            <a:ext cx="12182475" cy="6858000"/>
          </a:xfrm>
          <a:prstGeom prst="rect">
            <a:avLst/>
          </a:prstGeom>
        </p:spPr>
      </p:pic>
      <p:pic>
        <p:nvPicPr>
          <p:cNvPr id="9" name="图片 8" descr="矢量智能对象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309485" y="2189480"/>
            <a:ext cx="780415" cy="897255"/>
          </a:xfrm>
          <a:prstGeom prst="rect">
            <a:avLst/>
          </a:prstGeom>
        </p:spPr>
      </p:pic>
      <p:pic>
        <p:nvPicPr>
          <p:cNvPr id="10" name="图片 9" descr="36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164320" y="1170305"/>
            <a:ext cx="642620" cy="33591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10"/>
            </p:custDataLst>
          </p:nvPr>
        </p:nvSpPr>
        <p:spPr>
          <a:xfrm>
            <a:off x="702309" y="2189480"/>
            <a:ext cx="6804480" cy="1948815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baseline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 baseline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800397" cy="864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253A3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95642" y="360000"/>
            <a:ext cx="10799087" cy="864000"/>
          </a:xfrm>
        </p:spPr>
        <p:txBody>
          <a:bodyPr wrap="square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 u="none" strike="noStrike" kern="1200" cap="none" spc="0" normalizeH="0">
                <a:solidFill>
                  <a:srgbClr val="253A3F"/>
                </a:solidFill>
                <a:uFillTx/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5124" cy="6858000"/>
          </a:xfrm>
          <a:prstGeom prst="rect">
            <a:avLst/>
          </a:prstGeom>
        </p:spPr>
      </p:pic>
      <p:pic>
        <p:nvPicPr>
          <p:cNvPr id="9" name="图片 8" descr="5858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9965055" y="606425"/>
            <a:ext cx="1087755" cy="656590"/>
          </a:xfrm>
          <a:prstGeom prst="rect">
            <a:avLst/>
          </a:prstGeom>
        </p:spPr>
      </p:pic>
      <p:sp>
        <p:nvSpPr>
          <p:cNvPr id="8" name="署名"/>
          <p:cNvSpPr>
            <a:spLocks noGrp="1"/>
          </p:cNvSpPr>
          <p:nvPr>
            <p:ph type="body" idx="2" hasCustomPrompt="1"/>
            <p:custDataLst>
              <p:tags r:id="rId7"/>
            </p:custDataLst>
          </p:nvPr>
        </p:nvSpPr>
        <p:spPr>
          <a:xfrm>
            <a:off x="8976049" y="4321810"/>
            <a:ext cx="2177091" cy="486566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2">
                  <a:alpha val="5000"/>
                </a:schemeClr>
              </a:gs>
              <a:gs pos="100000">
                <a:schemeClr val="accent2">
                  <a:alpha val="15000"/>
                </a:schemeClr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400" b="0" i="0" u="none" strike="noStrike" kern="1200" cap="none" spc="0" normalizeH="0" baseline="0" noProof="1">
                <a:solidFill>
                  <a:schemeClr val="accent1">
                    <a:lumMod val="7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8"/>
            </p:custDataLst>
          </p:nvPr>
        </p:nvSpPr>
        <p:spPr>
          <a:xfrm>
            <a:off x="5059680" y="2042795"/>
            <a:ext cx="6155055" cy="209359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400" b="0" i="0" u="none" strike="noStrike" kern="1200" cap="none" spc="0" normalizeH="0" baseline="0" noProof="1" dirty="0">
                <a:solidFill>
                  <a:schemeClr val="dk1">
                    <a:lumMod val="100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image" Target="../media/image9.png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8000"/>
              <a:lumOff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alphaModFix amt="47000"/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2950" cy="6858000"/>
          </a:xfrm>
          <a:prstGeom prst="rect">
            <a:avLst/>
          </a:prstGeom>
        </p:spPr>
      </p:pic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  <p:custDataLst>
              <p:tags r:id="rId1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KSO_TEMPLATE" hidden="1"/>
          <p:cNvSpPr/>
          <p:nvPr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0" normalizeH="0" baseline="0" dirty="0" smtClean="0">
          <a:solidFill>
            <a:srgbClr val="253A3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0" normalizeH="0" baseline="0">
          <a:solidFill>
            <a:srgbClr val="253A3F"/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253A3F"/>
          </a:solidFill>
          <a:uFillTx/>
          <a:latin typeface="+mn-lt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253A3F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10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1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12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3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3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3258820" y="984885"/>
            <a:ext cx="7955915" cy="2830830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540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Banking Customer, Account &amp; Transaction Performance Analysis</a:t>
            </a:r>
            <a:endParaRPr lang="en-US" altLang="en-US" sz="540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Box 4"/>
          <p:cNvSpPr txBox="1"/>
          <p:nvPr/>
        </p:nvSpPr>
        <p:spPr>
          <a:xfrm>
            <a:off x="180975" y="374015"/>
            <a:ext cx="11601450" cy="1212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GB" altLang="en-US" sz="540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en-GB" altLang="en-US"/>
              <a:t>;</a:t>
            </a:r>
            <a:endParaRPr lang="en-GB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349885" y="1417320"/>
            <a:ext cx="11114405" cy="4678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This project analyzes a banking dataset containing customers, accounts, transactions, merchants, loans, cards, and branches to derive business insights and support executive decision-making using SQL and Power BI.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/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Analyze customer, account, transaction, merchant, and loan performance.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Develop interactive Power BI dashboards.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Identify trends, risks, and opportunities.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Provide actionable business recommendations.</a:t>
            </a: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535940" y="673100"/>
            <a:ext cx="10960100" cy="5502275"/>
          </a:xfrm>
        </p:spPr>
        <p:txBody>
          <a:bodyPr>
            <a:noAutofit/>
          </a:bodyPr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Tables used: Customers (50K), Accounts (     75K), Transactions (~1M), Loans, Cards, Merchants, and Branches.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Data was imported from MySQL into Power BI. SQL was used for KPI analysis and aggregations. DAX measures and calculated columns (Year, Month, Quarter) were created for trend analysis.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Performed relationship modeling, created derived date columns, validated data types, and developed measures such as Total Customers, Total Transactions, Average Credit Score, Total Loan Amount, and Average Transaction Amount.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Executive Dashboard 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44270" y="1252855"/>
            <a:ext cx="9156065" cy="51079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Business Insights 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/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bank serves 50K customers across multiple banking products and maintains 75K active accounts.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Total transaction volume exceeds $505.61M, indicating strong customer engagement and banking activity.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average credit score of 574.49 suggests a significant portion of customers belong to lower credit segments.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Account ownership is evenly distributed across Checking, Savings, and Business accounts.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Transaction activity remains relatively stable throughout the year, with peaks observed during specific months.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150495"/>
            <a:ext cx="10800080" cy="695325"/>
          </a:xfrm>
        </p:spPr>
        <p:txBody>
          <a:bodyPr>
            <a:normAutofit/>
          </a:bodyPr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Customers Analytics;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88720" y="1177290"/>
            <a:ext cx="9814560" cy="54571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Business Insights;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Customer registrations have shown an upward trend since 2023, indicating effective customer acquisition efforts.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 few cities contribute a major share of the bank's customer base, highlighting key target markets.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More than half of the customers fall under the Very Poor credit score segment, increasing the need for credit risk management.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Customers with better credit profiles present opportunities for premium banking and loan offerings.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Geographic and credit score analysis can help the bank personalize products and improve customer retention.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212090"/>
            <a:ext cx="10800080" cy="635000"/>
          </a:xfrm>
        </p:spPr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Accounts &amp; Transactions Analytics 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199515" y="1296670"/>
            <a:ext cx="9792970" cy="54432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Business Insights 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Checking accounts represent the largest share of account ownership among customers.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bank processes millions of dollars in transactions every month, demonstrating consistent financial activity.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Average transaction amount is approximately $5,000, indicating moderate customer spending behavior.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Transaction values exhibit seasonal trends, which can assist in operational and resource planning.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 small group of customers contributes significantly to overall transaction value, making them ideal candidates for relationship management programs.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236855"/>
            <a:ext cx="10800080" cy="671195"/>
          </a:xfrm>
        </p:spPr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Merchants &amp; Loan Analytics;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297940" y="1074420"/>
            <a:ext cx="10135235" cy="56280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Business Insights 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 limited number of merchants account for the majority of transaction counts, emphasizing their importance to the banking ecosystem.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loan portfolio exceeds $4.50B, reflecting substantial lending exposure.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High-value loans dominate the portfolio, requiring continuous monitoring to minimize credit risk.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The average interest rate of 8.51% indicates a balanced lending strategy across customer segments.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Top loan customers contribute a significant portion of the total loan amount, suggesting the need for focused portfolio management.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KPI Overview ;</a:t>
            </a:r>
            <a:endParaRPr lang="en-GB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Total Customers: 50K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Total Accounts: 75K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Total Transaction Volume: 505.61M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Average Credit Score: 574.49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Average Transaction Amount: 5K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Total Loan Amount: 4.50B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Average Loan Amount: 150.09K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 Average Interest Rate: 8.51</a:t>
            </a:r>
            <a:endParaRPr lang="en-US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GB" altLang="en-US">
                <a:latin typeface="Arial" panose="020B0604020202020204" pitchFamily="34" charset="0"/>
                <a:cs typeface="Arial" panose="020B0604020202020204" pitchFamily="34" charset="0"/>
              </a:rPr>
              <a:t>Business Recommendations;</a:t>
            </a:r>
            <a:r>
              <a:rPr lang="en-GB" altLang="en-US"/>
              <a:t> 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Implement personalized banking strategies for high-value customers to improve retention and customer satisfaction.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Strengthen credit risk monitoring and adopt data-driven lending practices to maintain a healthy loan portfolio.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Leverage customer analytics to identify cross-selling opportunities and increase banking product adoption.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Expand partnerships with top-performing merchants to drive transaction growth and enhance customer engagement.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Utilize transaction and customer trends to support strategic planning, operational efficiency, and sustainable business growth.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>
          <a:xfrm>
            <a:off x="8976049" y="4321810"/>
            <a:ext cx="2177091" cy="486566"/>
          </a:xfrm>
        </p:spPr>
        <p:txBody>
          <a:bodyPr/>
          <a:lstStyle/>
          <a:p>
            <a:r>
              <a:rPr lang="en-US"/>
              <a:t>Name</a:t>
            </a:r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5059680" y="2042795"/>
            <a:ext cx="6155055" cy="2093595"/>
          </a:xfrm>
        </p:spPr>
        <p:txBody>
          <a:bodyPr/>
          <a:lstStyle/>
          <a:p>
            <a:r>
              <a:rPr lang="en-US">
                <a:ea typeface="+mj-ea"/>
              </a:rPr>
              <a:t>THANK YOU</a:t>
            </a:r>
            <a:endParaRPr lang="en-US">
              <a:ea typeface="+mj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29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PRESET_TEXT" val="汇报人：稻壳儿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79"/>
</p:tagLst>
</file>

<file path=ppt/tags/tag77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79"/>
</p:tagLst>
</file>

<file path=ppt/tags/tag7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79_1*a*1"/>
  <p:tag name="KSO_WM_TEMPLATE_CATEGORY" val="custom"/>
  <p:tag name="KSO_WM_TEMPLATE_INDEX" val="20237979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62.85&quot;,&quot;top&quot;:&quot;118.75&quot;,&quot;width&quot;:&quot;459.25&quot;,&quot;height&quot;:&quot;265.1&quot;}"/>
  <p:tag name="KSO_WM_SLIDE_ID" val="custom20237979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79"/>
  <p:tag name="KSO_WM_SLIDE_LAYOUT" val="a_b_f"/>
  <p:tag name="KSO_WM_SLIDE_LAYOUT_CNT" val="1_1_1"/>
  <p:tag name="KSO_WM_SLIDE_THEME_ID" val="3302786"/>
  <p:tag name="KSO_WM_SLIDE_THEME_NAME" val="Blue Chinoiserie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8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38023"/>
</p:tagLst>
</file>

<file path=ppt/tags/tag114.xml><?xml version="1.0" encoding="utf-8"?>
<p:tagLst xmlns:p="http://schemas.openxmlformats.org/presentationml/2006/main">
  <p:tag name="KSO_WM_UNIT_TEXT_FILL_FORE_SCHEMECOLOR_INDEX_BRIGHTNESS" val="-0.25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7979_11*f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PRESET_TEXT" val="Name"/>
</p:tagLst>
</file>

<file path=ppt/tags/tag1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7979_11*a*1"/>
  <p:tag name="KSO_WM_TEMPLATE_CATEGORY" val="custom"/>
  <p:tag name="KSO_WM_TEMPLATE_INDEX" val="20237979"/>
  <p:tag name="KSO_WM_UNIT_LAYERLEVEL" val="1"/>
  <p:tag name="KSO_WM_TAG_VERSION" val="3.0"/>
  <p:tag name="KSO_WM_BEAUTIFY_FLAG" val="#wm#"/>
  <p:tag name="KSO_WM_UNIT_PRESET_TEXT" val="THANK YOU"/>
</p:tagLst>
</file>

<file path=ppt/tags/tag116.xml><?xml version="1.0" encoding="utf-8"?>
<p:tagLst xmlns:p="http://schemas.openxmlformats.org/presentationml/2006/main">
  <p:tag name="KSO_WM_SPECIAL_SOURCE" val="bdnull"/>
  <p:tag name="KSO_WM_SLIDE_CONTENT_AREA" val="{&quot;left&quot;:&quot;462.85&quot;,&quot;top&quot;:&quot;118.75&quot;,&quot;width&quot;:&quot;459.25&quot;,&quot;height&quot;:&quot;265.1&quot;}"/>
  <p:tag name="KSO_WM_SLIDE_ID" val="custom20237979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7979"/>
  <p:tag name="KSO_WM_SLIDE_LAYOUT" val="a_f"/>
  <p:tag name="KSO_WM_SLIDE_LAYOUT_CNT" val="1_1"/>
  <p:tag name="KSO_WM_SLIDE_THEME_ID" val="3302786"/>
  <p:tag name="KSO_WM_SLIDE_THEME_NAME" val="Blue Chinoiserie"/>
</p:tagLst>
</file>

<file path=ppt/theme/theme1.xml><?xml version="1.0" encoding="utf-8"?>
<a:theme xmlns:a="http://schemas.openxmlformats.org/drawingml/2006/main" name="1_Office Theme">
  <a:themeElements>
    <a:clrScheme name="自定义 69">
      <a:dk1>
        <a:srgbClr val="000000"/>
      </a:dk1>
      <a:lt1>
        <a:srgbClr val="FFFFFF"/>
      </a:lt1>
      <a:dk2>
        <a:srgbClr val="253A3F"/>
      </a:dk2>
      <a:lt2>
        <a:srgbClr val="ADC8CE"/>
      </a:lt2>
      <a:accent1>
        <a:srgbClr val="578591"/>
      </a:accent1>
      <a:accent2>
        <a:srgbClr val="77A3AE"/>
      </a:accent2>
      <a:accent3>
        <a:srgbClr val="D36250"/>
      </a:accent3>
      <a:accent4>
        <a:srgbClr val="EC9B86"/>
      </a:accent4>
      <a:accent5>
        <a:srgbClr val="A0B9C6"/>
      </a:accent5>
      <a:accent6>
        <a:srgbClr val="B1B3D3"/>
      </a:accent6>
      <a:hlink>
        <a:srgbClr val="EC5F74"/>
      </a:hlink>
      <a:folHlink>
        <a:srgbClr val="6096E6"/>
      </a:folHlink>
    </a:clrScheme>
    <a:fontScheme name="字体-传统">
      <a:majorFont>
        <a:latin typeface="Crimson Text SemiBold"/>
        <a:ea typeface="Crimson Text SemiBold"/>
        <a:cs typeface=""/>
      </a:majorFont>
      <a:minorFont>
        <a:latin typeface="Charis SIL"/>
        <a:ea typeface="Charis SI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4203</Words>
  <Application>WPS Presentation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Nunito Sans ExtraBold</vt:lpstr>
      <vt:lpstr>Segoe Print</vt:lpstr>
      <vt:lpstr>Nunito Sans</vt:lpstr>
      <vt:lpstr>Crimson Text SemiBold</vt:lpstr>
      <vt:lpstr>Charis SIL</vt:lpstr>
      <vt:lpstr>1_Office Theme</vt:lpstr>
      <vt:lpstr>Banking Customer, Account &amp; Transaction Performance Analysis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Customer, Account &amp; Transaction Performance Analysis</dc:title>
  <dc:creator>MD KAIF</dc:creator>
  <cp:lastModifiedBy>Sameem Akthar</cp:lastModifiedBy>
  <cp:revision>1</cp:revision>
  <dcterms:created xsi:type="dcterms:W3CDTF">2026-07-16T09:41:07Z</dcterms:created>
  <dcterms:modified xsi:type="dcterms:W3CDTF">2026-07-16T09:41:07Z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3E59B75B87B2417984F1F2F25B83DCAC_11</vt:lpwstr>
  </property>
</Properties>
</file>